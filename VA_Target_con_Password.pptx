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95EB2-D262-4B0C-8738-5C5DEC768E6D}" type="datetimeFigureOut">
              <a:rPr lang="it-IT" smtClean="0"/>
              <a:t>11/02/2026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CDF11-ADBE-4B49-838B-D2FA235F6C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0131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055C2-3841-FE93-9C7F-E02712939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8FD2EC-8E55-7804-3460-2E9D766B0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262A59-093C-3FEE-4B46-C96D022FD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954FE1-16A3-12CE-3FF3-4B4A6FF1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EFB62A-0261-8351-E3FE-C2C89B46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226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96D405-2B7A-C678-4B8F-0B0C3236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FEE1AF-F903-7829-22F4-8FF51C0AA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9E06F4-A670-4655-DA31-FC158EA3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85087A-410B-2B4E-54CF-8FF06D66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A69FB4-893A-ECB6-114A-7B4E2263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55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A6E369-C32D-9E81-1610-3F21E0DC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A666407-16D7-64B0-8D0D-807B712C6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31ED05-FB24-52A1-F194-D5858D63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6130CF-07F5-3FEB-CC3F-9BD185BE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CDC26E-566D-0302-05CF-FBE1934E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464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F811C-271A-8551-35A2-D0CEE1B1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FF819E-83E2-59B9-1303-26908AFC5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665D9A-B085-30E4-D86E-C099E744F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D1F3B89-972E-CC5C-3994-CA1C22A3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C31D60F-6438-1931-E9BC-B94E2AE6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524F3DF-0BCB-1727-25EB-D903D4DF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2637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AB137E-BFC8-E5BE-5F06-84FB1E48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E9A9D7-92AC-5FBE-D61B-19E911387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EA1B1F5-1DC2-6BFE-98E1-5686030A6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D3B77B-D825-AFC4-C65E-736474B1E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E804EF3-11D0-3CF2-FDD4-C618452BC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E2C2A6B-A83C-CD9E-CE78-B95CC2ED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65DBD86-1FD7-2EAD-F3E0-59BF3AD8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0578106-87E8-B5BC-55B0-6B6303FA9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95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72BCC-C33A-9CAE-59C0-333992B0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9DB454-7B51-60B2-7794-741CC9A6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9692F6-C34C-24FC-E89C-9491E55D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4FC6FC5-08D8-4680-3383-F85978C0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0293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F45F79B-0D09-FBF5-8BBE-6F10484B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CA8F8F7-BD86-372A-13FA-45EC446B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A040998-7290-6698-3231-A29197FD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798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EBEC1B-64D0-B227-CAB6-BBE75E565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809FB2-6687-6829-AEBD-005F88076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1022C89-2257-6DF8-E66B-581201646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8803019-AFBD-EBEA-12D7-7140BD82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14E246D-2A14-0D04-CBD3-942B8771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C968C5A-1181-4376-5EBB-468A7734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3635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0608F5-3CE2-12C3-FF33-85CE4A88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11FC6F0-2651-1888-8739-82E691B19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44771B-92D0-CF46-22A8-BAB2DAA5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B30530-AF25-27CF-184E-DA06EE2A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44190B-D95F-2007-59DD-707B2E64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0466A49-45A5-59FD-92D0-9B753AB6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434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471191-49E5-0800-67A1-91202486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B7485EC-DA70-8D08-3F6F-F337FE02D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B4B812-E234-87D4-46A5-F25DB910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7E63E5-4A1E-FF91-8C3A-36B764A5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B4F96B-C0AD-22E3-A5DE-C0516847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919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B7E501C-0C2B-2507-45E3-36667D46C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97C36A0-E4E0-CB63-7D52-C91A15976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ED290B-B526-E475-C4BE-77B4A9A2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91FD70D-5EF4-9C34-F28D-F3401FCFF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F389F2-D267-919B-B597-9866AEA5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179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972B9B5-28E9-729F-6C1C-1D84C8E7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315468-B227-169B-5D8E-D36BCBB81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B0E160-4F93-D2D4-59AA-79AF447DC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Farina Giaquinto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524FDB-345B-C278-9F6F-0D66A256A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51F20D-6455-BEF1-CBFE-AE585B6B6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2564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 dirty="0"/>
              <a:t>1</a:t>
            </a:r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53A01617-274D-5117-AC07-CA5A27098794}"/>
              </a:ext>
            </a:extLst>
          </p:cNvPr>
          <p:cNvCxnSpPr/>
          <p:nvPr userDrawn="1"/>
        </p:nvCxnSpPr>
        <p:spPr>
          <a:xfrm>
            <a:off x="838200" y="6356350"/>
            <a:ext cx="106056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83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54A8-8AE5-6452-2991-1E4A9222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239BECFA-E641-7E31-C289-8C3791AB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Perimetro e metodologia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8C9085C-364C-5CF9-4E4D-F7EFCAFBC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9542" y="2522845"/>
            <a:ext cx="5181600" cy="1812310"/>
          </a:xfrm>
        </p:spPr>
        <p:txBody>
          <a:bodyPr/>
          <a:lstStyle/>
          <a:p>
            <a:pPr marL="0" indent="0" algn="just">
              <a:buNone/>
            </a:pPr>
            <a:r>
              <a:rPr lang="it-IT" b="1" dirty="0">
                <a:solidFill>
                  <a:schemeClr val="tx2"/>
                </a:solidFill>
              </a:rPr>
              <a:t>Dettagli del Target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Target principale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192.168.56.103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Sistema Operativo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Ubuntu 24.04 LTS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F17B87-3A51-DF4F-C2EF-D37FC6370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503" y="2522845"/>
            <a:ext cx="5181600" cy="2145123"/>
          </a:xfrm>
        </p:spPr>
        <p:txBody>
          <a:bodyPr/>
          <a:lstStyle/>
          <a:p>
            <a:pPr marL="0" indent="0" algn="just">
              <a:buNone/>
            </a:pPr>
            <a:r>
              <a:rPr lang="it-IT" b="1" dirty="0">
                <a:solidFill>
                  <a:schemeClr val="tx2"/>
                </a:solidFill>
              </a:rPr>
              <a:t>Dettagli dell’attività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Finestra temporale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Dal 10/02 al 12/02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Tipologia di test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Authenticated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Scan</a:t>
            </a:r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Strumenti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Nessus</a:t>
            </a:r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Standard di riferimento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CVSS 3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62DE43-4C9F-CBAE-F2B6-247A0464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FB8A24-F2EE-0678-247B-D9C75AFF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C79E74-E601-50C5-9656-8A4CF2A2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99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6B0F02E-D872-8F05-1DB0-3ABD41B1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/>
          </a:bodyPr>
          <a:lstStyle/>
          <a:p>
            <a:r>
              <a:rPr lang="it-IT" sz="32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Summary</a:t>
            </a:r>
            <a:endParaRPr lang="it-IT" sz="32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B9F17A9D-574F-4344-7F72-22EA2CBB6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253331"/>
            <a:ext cx="10515600" cy="474434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 livello delle criticità riscontrate sul perimetro fornito durante l’attività di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Assessment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è </a:t>
            </a:r>
            <a:r>
              <a:rPr lang="it-IT" sz="20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‘[CRITICAL]’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Durante la scansione in oggetto sono state rilevate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109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vulnerabilità totali, di cui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96 univoche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, di queste:</a:t>
            </a:r>
          </a:p>
          <a:p>
            <a:pPr algn="just"/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sono risultate di severità critica e, come tali, richiedono un’attenzione immediata in quanto risultano relativamente facili da sfruttare e possono consentire ad un potenziale aggressore il pieno controllo dei sistemi se sottoposti ad attacco;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sono risultate di severità alta ma più difficili da sfruttare;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sono risultate di severità media che spesso indica una possibile divulgazione di informazioni che potrebbero essere utilizzate da potenziali aggressori per predisporre e sferrare successivi attacchi alla rete. Anche in questo caso è consigliabile risolvere tempestivamente la problematica, ma non con la stessa urgenza di quelle precedentemente indicate;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sono risultate di severità bassa;</a:t>
            </a:r>
          </a:p>
          <a:p>
            <a:pPr algn="just"/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65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classificate come INFO.</a:t>
            </a:r>
            <a:endParaRPr lang="it-IT" sz="20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it-IT" sz="20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AC49B4-FAC9-719B-CFCF-C84CD1B0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F89CE2-2EA8-3B7D-5CF2-9A8E7B63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9AD36F-DF05-39B5-DB38-80312D1E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209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2938-61CD-1225-15E0-FAD637E9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BA359F96-FF6B-1773-B0D7-EF147573E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 fontScale="90000"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Classificazione Vulnerabilità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FDDA92C5-6082-3C13-397B-A6F2BB7E3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253330"/>
            <a:ext cx="10515600" cy="565637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L’ attività di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Vulnerability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Scanning ha evidenziato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96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vulnearabilità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 algn="ctr">
              <a:buNone/>
            </a:pP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Critical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 </a:t>
            </a:r>
            <a:r>
              <a:rPr lang="it-IT" sz="2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Severe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 </a:t>
            </a:r>
            <a:r>
              <a:rPr lang="it-IT" sz="20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Medium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</a:t>
            </a:r>
            <a:r>
              <a:rPr lang="it-IT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65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B03A57-6623-1D6B-B08B-FA174F65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8BF1A0-F937-BB46-D84B-C37FE07F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D2668E-AECF-9112-BFD2-C7836202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3</a:t>
            </a:fld>
            <a:endParaRPr lang="it-IT"/>
          </a:p>
        </p:txBody>
      </p:sp>
      <p:pic>
        <p:nvPicPr>
          <p:cNvPr id="10" name="Immagine 9" descr="Immagine che contiene testo, schermata, diagramma, Diagramma">
            <a:extLst>
              <a:ext uri="{FF2B5EF4-FFF2-40B4-BE49-F238E27FC236}">
                <a16:creationId xmlns:a16="http://schemas.microsoft.com/office/drawing/2014/main" id="{1409E498-E7CA-7C66-D4EA-4E955C71E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134" y="1818967"/>
            <a:ext cx="6471770" cy="430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8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11DB-4D9D-05F0-E2BB-F2EBF5A7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580CF8CA-530D-73E7-705B-D03136F2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 fontScale="90000"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Distribuzione delle vulnerabilità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33AA76B-06AA-742C-8107-861351F47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93" y="2942303"/>
            <a:ext cx="5503607" cy="9733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 grafico rappresenta la distribuzione delle vulnerabilità su base della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severity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La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severity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è calcolata su un range definito di score CVSS:</a:t>
            </a:r>
          </a:p>
          <a:p>
            <a:pPr marL="0" indent="0" algn="just">
              <a:buNone/>
            </a:pPr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8BE24C-F41B-3B6F-02D2-6644A8C0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E23A3A-66CE-E533-C32E-DCD0AC73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FBDC84-9A81-19A4-942C-A242289C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4</a:t>
            </a:fld>
            <a:endParaRPr lang="it-IT"/>
          </a:p>
        </p:txBody>
      </p:sp>
      <p:pic>
        <p:nvPicPr>
          <p:cNvPr id="10" name="Immagine 9" descr="Immagine che contiene cerchio, Policromia, diagramma, schermata">
            <a:extLst>
              <a:ext uri="{FF2B5EF4-FFF2-40B4-BE49-F238E27FC236}">
                <a16:creationId xmlns:a16="http://schemas.microsoft.com/office/drawing/2014/main" id="{7956ED83-E3F5-4D4A-9C92-4A7C5B8F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194" y="1280811"/>
            <a:ext cx="4620270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36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2ECC-956A-4E42-D6BD-2D3D4DA5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5DDFDDCD-1CC3-883A-880F-BD3ADBDF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 fontScale="90000"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10 Vulnerabilità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B8E625F-D6BA-A49F-04A9-FDEB8AE02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8" y="1064897"/>
            <a:ext cx="10515600" cy="6484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 seguito le 10 vulnerabilità ritenute più critiche. L’elenco è basato sulla probabilità e facilità di sfruttamento nonché sull’effetto che potrebbe avere nel caso fossero sfruttate.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E35D92-E9D3-6B36-17C7-88AF5319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735211-7E3A-1D83-1476-846940B8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22213C-4F4C-C1EE-C53F-A7C296F8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5</a:t>
            </a:fld>
            <a:endParaRPr lang="it-IT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281BC748-9D74-C4CE-CC7D-F7E2EEF61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922694"/>
              </p:ext>
            </p:extLst>
          </p:nvPr>
        </p:nvGraphicFramePr>
        <p:xfrm>
          <a:off x="136236" y="1776740"/>
          <a:ext cx="11919526" cy="4152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226">
                  <a:extLst>
                    <a:ext uri="{9D8B030D-6E8A-4147-A177-3AD203B41FA5}">
                      <a16:colId xmlns:a16="http://schemas.microsoft.com/office/drawing/2014/main" val="1186281879"/>
                    </a:ext>
                  </a:extLst>
                </a:gridCol>
                <a:gridCol w="1207583">
                  <a:extLst>
                    <a:ext uri="{9D8B030D-6E8A-4147-A177-3AD203B41FA5}">
                      <a16:colId xmlns:a16="http://schemas.microsoft.com/office/drawing/2014/main" val="669295007"/>
                    </a:ext>
                  </a:extLst>
                </a:gridCol>
                <a:gridCol w="3324717">
                  <a:extLst>
                    <a:ext uri="{9D8B030D-6E8A-4147-A177-3AD203B41FA5}">
                      <a16:colId xmlns:a16="http://schemas.microsoft.com/office/drawing/2014/main" val="2511203311"/>
                    </a:ext>
                  </a:extLst>
                </a:gridCol>
              </a:tblGrid>
              <a:tr h="465015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Vulnerabilità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CVSS3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Severity</a:t>
                      </a:r>
                      <a:endParaRPr lang="it-IT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397135"/>
                  </a:ext>
                </a:extLst>
              </a:tr>
              <a:tr h="39329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Next.js framework React Server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components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Remote Code Execution (CVE 2025-55182)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477082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React Server Components 19.0/19.1.0/19.1.1/19.2.0 Remote Code Execution (React2Shell)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63040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22.04 LTS/24.04 LTS/ 25.10 :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Inetutils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vulnerability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(USN-7992-1)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80520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14.04 LTS :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ImageMagik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Vulnerabilities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(USN-7728-1)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311813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14.04 LTS :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ImageMagik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Vulnerabilities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(USN-7756-1)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7357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16.04 LTS: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Ffmpeg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Vulnerabilities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(USN-6803-1)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052236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14.04 LTS :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ImageMagik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Vulnerabilities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(USN-7812-1)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062592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16.04 LTS: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Ffmpeg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Vulnerabilities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(USN-7823-1)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212596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16.04 LTS: GNU C library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Vulnerabilities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(USN-8005-1)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839703"/>
                  </a:ext>
                </a:extLst>
              </a:tr>
              <a:tr h="36605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Ubuntu 22.04 LTS: 7-ZIP </a:t>
                      </a:r>
                      <a:r>
                        <a:rPr lang="it-IT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Vulnerabilities</a:t>
                      </a:r>
                      <a:r>
                        <a:rPr lang="it-IT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(USN-7428-1)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76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72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5620-C02D-F56C-B76A-E061AEF8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8C466744-6D65-C2C5-1654-7BB27FBDB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 fontScale="90000"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Vulnerabilità Critiche 1/3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071D064E-FAE9-18B9-6E10-0CA6C6409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25333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Next.js framework React Server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components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Remote Code Execution (CVE 2025-55182)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[CRITICAL]</a:t>
            </a:r>
          </a:p>
          <a:p>
            <a:pPr marL="0" indent="0" algn="just">
              <a:buNone/>
            </a:pPr>
            <a:endParaRPr lang="it-IT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it-IT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it-IT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Rischio: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 codice vulnerabile deserializza in modo non sicuro i payload delle richieste HTTP agli endpoint della funzione server. Un attaccante è in grado, senza autenticarsi, di eseguire codice arbitrario sul sistema vittima.</a:t>
            </a:r>
          </a:p>
          <a:p>
            <a:pPr marL="0" indent="0" algn="just">
              <a:buNone/>
            </a:pPr>
            <a:endParaRPr lang="it-IT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it-IT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it-IT" sz="2000" b="1" dirty="0" err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Remediation</a:t>
            </a:r>
            <a:r>
              <a:rPr lang="it-IT" sz="20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Aggiornare immediatamente i pacchetti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react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una delle seguenti versioni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patchate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(o successive):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Next.js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alla versione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16.0.7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 superiori);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React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alla versione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19.2.1</a:t>
            </a:r>
            <a:endParaRPr lang="it-IT" sz="2000" b="1" dirty="0">
              <a:solidFill>
                <a:srgbClr val="00B05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59180B-001E-49BD-5812-312D78CC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5319F9-61FF-05EF-3ACB-F9E8564D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0DD0C-497A-67A0-2C35-E7A7FD89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703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659B-0D76-E39A-4441-8F359EEB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14BE65EA-D51C-3575-0907-1C2B4D4D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 fontScale="90000"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Vulnerabilità Critiche 2/3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78322FE-5ED9-172B-CB97-610192051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25333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Ubuntu 22.04 LTS/24.04 LTS/ 25.10 :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Inetutils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vulnerability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(USN-7992-1)</a:t>
            </a:r>
            <a:r>
              <a:rPr lang="it-IT" sz="2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[CRITICAL]</a:t>
            </a:r>
          </a:p>
          <a:p>
            <a:pPr marL="0" indent="0" algn="just">
              <a:buNone/>
            </a:pPr>
            <a:endParaRPr lang="it-IT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it-IT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it-IT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Rischio: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Un attaccante potrebbe utilizzare questa vulnerabilità per bypassare l’autenticazione ed aprire una sessione come amministratore</a:t>
            </a:r>
          </a:p>
          <a:p>
            <a:pPr marL="0" indent="0" algn="just">
              <a:buNone/>
            </a:pPr>
            <a:endParaRPr lang="it-IT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it-IT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it-IT" sz="2000" b="1" dirty="0" err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Remediation</a:t>
            </a:r>
            <a:r>
              <a:rPr lang="it-IT" sz="20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Effettuare l’aggiornamento mirato del pacchetto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inetutils-telnetd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alla versione sicura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[2:2.5-3ubuntu4.1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 successiva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].</a:t>
            </a:r>
            <a:endParaRPr lang="it-IT" sz="2000" b="1" dirty="0">
              <a:solidFill>
                <a:srgbClr val="00B05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AF474C-2CA0-FB06-FF84-A0AB3A12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055C93-1B08-1015-9BD1-651C65F7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D036B8-94B5-C1BC-4E8E-C4B0C815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70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6733-C163-081F-C5C0-53521F40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80EF709A-B5E0-CEE1-E105-2846F9397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 fontScale="90000"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Vulnerabilità Critiche 3/3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A462154F-4618-9AA6-7DCB-5132574C6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25333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Ubuntu 14.04 LTS :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ImageMagik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Vulnerabilities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(USN-7728-1) </a:t>
            </a:r>
            <a:r>
              <a:rPr lang="it-IT" sz="2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[CRITICAL]</a:t>
            </a:r>
          </a:p>
          <a:p>
            <a:pPr marL="0" indent="0" algn="just">
              <a:buNone/>
            </a:pPr>
            <a:endParaRPr lang="it-IT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it-IT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it-IT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Rischio: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ImageMagik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non esegue correttamente determinate controlli durante l’interpretazione dei nomi dei file di immagini. Un attaccante potrebbe sfruttare questa problematica per eseguire del codice arbitrario o attacchi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</a:t>
            </a:r>
            <a:endParaRPr lang="it-IT" sz="20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it-IT" sz="20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endParaRPr lang="it-IT" sz="2000" b="1" dirty="0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it-IT" sz="2000" b="1" dirty="0" err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Remediation</a:t>
            </a:r>
            <a:r>
              <a:rPr lang="it-IT" sz="20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Pianificare la migrazione del server a una versione supportata (tramite ESM).  </a:t>
            </a:r>
            <a:endParaRPr lang="it-IT" sz="2000" b="1" dirty="0">
              <a:solidFill>
                <a:srgbClr val="00B05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A3AF66-070A-3D41-0CC2-CE04DA7F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742F91-74F5-C4C0-658B-842D1670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E29DD1-3A7D-2A0D-A6DC-78B1249D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4576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8DDC6-5063-4802-443A-2ECD8E90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702767DB-9BCB-8403-EFC7-2D811EA5B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06213" cy="1325563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Root </a:t>
            </a:r>
            <a:r>
              <a:rPr lang="it-IT" sz="32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causes</a:t>
            </a:r>
            <a:endParaRPr lang="it-IT" sz="32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482546-0EEC-9B59-13AB-9EAC6FCA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57C46C-C6B3-F3FA-3147-5CB08479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0B2533-3875-1BE3-AD4A-D30F4138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9</a:t>
            </a:fld>
            <a:endParaRPr lang="it-IT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B4F7DDCA-3435-1633-E9A9-6595AB0CB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82285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Gestione delle dipendenze:</a:t>
            </a:r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Il ciclo di sviluppo non include un controllo automatico delle librerie di terze parti. Una soluzione possibile potrebbe essere quella di implementare strumenti di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 (Software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Composition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Analysis)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 bloccare build con librerie vulnerabili.</a:t>
            </a:r>
          </a:p>
          <a:p>
            <a:pPr marL="0" indent="0" algn="just">
              <a:buNone/>
            </a:pPr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endParaRPr lang="it-I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Hardening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del sistema:</a:t>
            </a:r>
          </a:p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Presenza di protocolli non sicuri e obsoleti (Telnet) su un OS moderno. Una soluzione possibile potrebbe essere quella di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 solo </a:t>
            </a:r>
            <a:r>
              <a:rPr lang="it-I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patchare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questi protocolli ma rimuoverli a favore di tecnologie avanzate (Telnet-&gt;SSH).</a:t>
            </a:r>
            <a:endParaRPr lang="it-IT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32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BD6B-6E76-5BAB-B1AA-926E09D3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298322EA-8147-62CD-1D7B-A3086BB7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353052"/>
            <a:ext cx="3832123" cy="648469"/>
          </a:xfrm>
        </p:spPr>
        <p:txBody>
          <a:bodyPr>
            <a:normAutofit fontScale="90000"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VA: Conclusioni e </a:t>
            </a:r>
            <a:r>
              <a:rPr lang="it-IT" sz="32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Remediations</a:t>
            </a:r>
            <a:endParaRPr lang="it-IT" sz="32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16194A10-4169-F68C-EAD5-8E9771DA9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207"/>
            <a:ext cx="10515600" cy="37414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seguito delle analisi eseguite sulle risultanze del VA, si suggerisce di applicare quanto prima gli aggiornamenti che andrebbero a risolvere le vulnerabilità più critiche.</a:t>
            </a:r>
          </a:p>
          <a:p>
            <a:pPr marL="0" indent="0" algn="just">
              <a:buNone/>
            </a:pP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Inoltre si consiglia di:</a:t>
            </a:r>
          </a:p>
          <a:p>
            <a:pPr algn="just"/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Verificare l'efficacia del processo di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Patch Management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 fine di allineare tutti i software a una versione non vulnerabile e supportata</a:t>
            </a:r>
          </a:p>
          <a:p>
            <a:pPr algn="just"/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Attivare servizi di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Penetration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Test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 fine di verificare la possibilità da parte di un attaccante di sfruttare le vulnerabilità descritte nel report</a:t>
            </a:r>
          </a:p>
          <a:p>
            <a:pPr algn="just"/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Attivare servizi di 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Cyber </a:t>
            </a:r>
            <a:r>
              <a:rPr lang="it-IT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Threat</a:t>
            </a: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Intelligence </a:t>
            </a: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 poter ricevere alert immediati in caso di allarmi che possono avere impatti sull’infrastruttura/applicazioni (es. nuove vulnerabilità)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A70706-7E25-BFFB-E074-BA86EAD93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Farina Giaquinto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214650D-1311-718B-F783-C99DA3CC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CONFIDENTIAL-</a:t>
            </a:r>
            <a:r>
              <a:rPr lang="it-IT" dirty="0" err="1"/>
              <a:t>Internal</a:t>
            </a:r>
            <a:r>
              <a:rPr lang="it-IT" dirty="0"/>
              <a:t> Use Only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5F27EB-026C-BA9E-9F92-80944AC68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F898F-ECA8-43E6-ACA6-45134A6BCFA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01128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865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Tema di Office</vt:lpstr>
      <vt:lpstr>Perimetro e metodologia</vt:lpstr>
      <vt:lpstr>Summary</vt:lpstr>
      <vt:lpstr>Classificazione Vulnerabilità</vt:lpstr>
      <vt:lpstr>Distribuzione delle vulnerabilità</vt:lpstr>
      <vt:lpstr>Top 10 Vulnerabilità</vt:lpstr>
      <vt:lpstr>Vulnerabilità Critiche 1/3</vt:lpstr>
      <vt:lpstr>Vulnerabilità Critiche 2/3</vt:lpstr>
      <vt:lpstr>Vulnerabilità Critiche 3/3</vt:lpstr>
      <vt:lpstr>Root causes</vt:lpstr>
      <vt:lpstr>VA: Conclusioni e Remediations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FARINA</dc:creator>
  <cp:lastModifiedBy>GIUSEPPE FARINA</cp:lastModifiedBy>
  <cp:revision>5</cp:revision>
  <dcterms:created xsi:type="dcterms:W3CDTF">2026-02-10T16:02:05Z</dcterms:created>
  <dcterms:modified xsi:type="dcterms:W3CDTF">2026-02-11T09:18:59Z</dcterms:modified>
</cp:coreProperties>
</file>